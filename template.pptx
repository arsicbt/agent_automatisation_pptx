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332a26ad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332a26ad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332a26ad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332a26ad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332a26ad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332a26ad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8F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7278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020F47"/>
                </a:solidFill>
              </a:rPr>
              <a:t>Rapport de Performance Annuel </a:t>
            </a:r>
            <a:endParaRPr b="1">
              <a:solidFill>
                <a:srgbClr val="020F47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69825" y="2874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0098"/>
                </a:solidFill>
              </a:rPr>
              <a:t>{{NOM_CLIENT}} </a:t>
            </a:r>
            <a:endParaRPr>
              <a:solidFill>
                <a:srgbClr val="FF0098"/>
              </a:solidFill>
            </a:endParaRPr>
          </a:p>
        </p:txBody>
      </p:sp>
      <p:pic>
        <p:nvPicPr>
          <p:cNvPr descr="Low angle view of skyscraper in New York City, NY, USA (fourni par Getty Images)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8388" y="0"/>
            <a:ext cx="343067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8F6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FF0098"/>
                </a:solidFill>
              </a:rPr>
              <a:t>L</a:t>
            </a:r>
            <a:r>
              <a:rPr b="1" lang="fr">
                <a:solidFill>
                  <a:srgbClr val="FF0098"/>
                </a:solidFill>
              </a:rPr>
              <a:t>es chiffres clés </a:t>
            </a:r>
            <a:endParaRPr b="1">
              <a:solidFill>
                <a:srgbClr val="FF0098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616500" y="1363350"/>
            <a:ext cx="3628500" cy="12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solidFill>
                  <a:srgbClr val="020F47"/>
                </a:solidFill>
              </a:rPr>
              <a:t>{{CHIFFRE_AFFAIRES}} </a:t>
            </a:r>
            <a:endParaRPr>
              <a:solidFill>
                <a:srgbClr val="020F47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860250" y="1363350"/>
            <a:ext cx="3628500" cy="12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solidFill>
                  <a:srgbClr val="020F47"/>
                </a:solidFill>
              </a:rPr>
              <a:t>{{OBJECTIF}} </a:t>
            </a:r>
            <a:r>
              <a:rPr lang="fr">
                <a:solidFill>
                  <a:srgbClr val="020F47"/>
                </a:solidFill>
              </a:rPr>
              <a:t> </a:t>
            </a:r>
            <a:endParaRPr>
              <a:solidFill>
                <a:srgbClr val="020F47"/>
              </a:solidFill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616500" y="3337850"/>
            <a:ext cx="3628500" cy="12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solidFill>
                  <a:srgbClr val="020F47"/>
                </a:solidFill>
              </a:rPr>
              <a:t>{{TAUX_REUSSITE}} </a:t>
            </a:r>
            <a:endParaRPr>
              <a:solidFill>
                <a:srgbClr val="020F4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8F6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2820">
                <a:solidFill>
                  <a:srgbClr val="FF0098"/>
                </a:solidFill>
              </a:rPr>
              <a:t>L'Analyse des Performances </a:t>
            </a:r>
            <a:endParaRPr b="1" sz="2820">
              <a:solidFill>
                <a:srgbClr val="FF0098"/>
              </a:solidFill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4868325" y="1152475"/>
            <a:ext cx="396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solidFill>
                  <a:srgbClr val="020F47"/>
                </a:solidFill>
              </a:rPr>
              <a:t>{{ANALYSE_IA}} </a:t>
            </a:r>
            <a:endParaRPr>
              <a:solidFill>
                <a:srgbClr val="020F47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300" y="1298100"/>
            <a:ext cx="372507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8F6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FF0098"/>
                </a:solidFill>
              </a:rPr>
              <a:t>Plan d'Action &amp; Prochaines Étapes </a:t>
            </a:r>
            <a:endParaRPr b="1">
              <a:solidFill>
                <a:srgbClr val="FF0098"/>
              </a:solidFill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solidFill>
                  <a:srgbClr val="020F47"/>
                </a:solidFill>
              </a:rPr>
              <a:t>{{RECOMMANDATION_STRATEGIQUE}} </a:t>
            </a:r>
            <a:endParaRPr>
              <a:solidFill>
                <a:srgbClr val="020F4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